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Inter" panose="020B0502030000000004" pitchFamily="34" charset="0"/>
      <p:regular r:id="rId14"/>
    </p:embeddedFont>
    <p:embeddedFont>
      <p:font typeface="Inter Bold" panose="020B0604020202020204" charset="0"/>
      <p:regular r:id="rId15"/>
    </p:embeddedFont>
    <p:embeddedFont>
      <p:font typeface="Inter Italics" panose="020B0604020202020204" charset="0"/>
      <p:regular r:id="rId16"/>
    </p:embeddedFont>
    <p:embeddedFont>
      <p:font typeface="Montserrat Bold" pitchFamily="2" charset="0"/>
      <p:regular r:id="rId17"/>
      <p:bold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8" d="100"/>
          <a:sy n="38" d="100"/>
        </p:scale>
        <p:origin x="1020" y="1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svg"/><Relationship Id="rId4" Type="http://schemas.openxmlformats.org/officeDocument/2006/relationships/image" Target="../media/image27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7" Type="http://schemas.openxmlformats.org/officeDocument/2006/relationships/image" Target="../media/image34.png"/><Relationship Id="rId2" Type="http://schemas.openxmlformats.org/officeDocument/2006/relationships/image" Target="../media/image3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33.svg"/><Relationship Id="rId4" Type="http://schemas.openxmlformats.org/officeDocument/2006/relationships/image" Target="../media/image3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33303" y="3667248"/>
            <a:ext cx="7025997" cy="5582474"/>
          </a:xfrm>
          <a:custGeom>
            <a:avLst/>
            <a:gdLst/>
            <a:ahLst/>
            <a:cxnLst/>
            <a:rect l="l" t="t" r="r" b="b"/>
            <a:pathLst>
              <a:path w="7025997" h="5582474">
                <a:moveTo>
                  <a:pt x="0" y="0"/>
                </a:moveTo>
                <a:lnTo>
                  <a:pt x="7025997" y="0"/>
                </a:lnTo>
                <a:lnTo>
                  <a:pt x="7025997" y="5582474"/>
                </a:lnTo>
                <a:lnTo>
                  <a:pt x="0" y="55824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905007" y="1028700"/>
            <a:ext cx="3776383" cy="3055437"/>
          </a:xfrm>
          <a:custGeom>
            <a:avLst/>
            <a:gdLst/>
            <a:ahLst/>
            <a:cxnLst/>
            <a:rect l="l" t="t" r="r" b="b"/>
            <a:pathLst>
              <a:path w="3776383" h="3055437">
                <a:moveTo>
                  <a:pt x="0" y="0"/>
                </a:moveTo>
                <a:lnTo>
                  <a:pt x="3776383" y="0"/>
                </a:lnTo>
                <a:lnTo>
                  <a:pt x="3776383" y="3055437"/>
                </a:lnTo>
                <a:lnTo>
                  <a:pt x="0" y="30554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78469" y="226875"/>
            <a:ext cx="2594196" cy="997768"/>
          </a:xfrm>
          <a:custGeom>
            <a:avLst/>
            <a:gdLst/>
            <a:ahLst/>
            <a:cxnLst/>
            <a:rect l="l" t="t" r="r" b="b"/>
            <a:pathLst>
              <a:path w="2594196" h="997768">
                <a:moveTo>
                  <a:pt x="0" y="0"/>
                </a:moveTo>
                <a:lnTo>
                  <a:pt x="2594197" y="0"/>
                </a:lnTo>
                <a:lnTo>
                  <a:pt x="2594197" y="997768"/>
                </a:lnTo>
                <a:lnTo>
                  <a:pt x="0" y="9977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2948668"/>
            <a:ext cx="8312264" cy="1979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80"/>
              </a:lnSpc>
            </a:pPr>
            <a:r>
              <a:rPr lang="en-US" sz="5700" b="1">
                <a:solidFill>
                  <a:srgbClr val="1F1F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Analisis Pola Anomali Keamanan Jaringan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4813646"/>
            <a:ext cx="9389750" cy="1368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1"/>
              </a:lnSpc>
            </a:pPr>
            <a:r>
              <a:rPr lang="en-US" sz="8001" b="1">
                <a:solidFill>
                  <a:srgbClr val="10B98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&amp; Deteksi Intrusi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6439511"/>
            <a:ext cx="7359449" cy="850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i="1">
                <a:solidFill>
                  <a:srgbClr val="6B7280"/>
                </a:solidFill>
                <a:latin typeface="Inter Italics"/>
                <a:ea typeface="Inter Italics"/>
                <a:cs typeface="Inter Italics"/>
                <a:sym typeface="Inter Italics"/>
              </a:rPr>
              <a:t>Berdasarkan Dataset Simulasi Jaringan LAN US Air Force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7671707"/>
            <a:ext cx="2183515" cy="41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i="1">
                <a:solidFill>
                  <a:srgbClr val="6B7280"/>
                </a:solidFill>
                <a:latin typeface="Inter Italics"/>
                <a:ea typeface="Inter Italics"/>
                <a:cs typeface="Inter Italics"/>
                <a:sym typeface="Inter Italics"/>
              </a:rPr>
              <a:t>Presented by: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128531" y="7662182"/>
            <a:ext cx="5007365" cy="216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6B7280"/>
                </a:solidFill>
                <a:latin typeface="Inter Bold"/>
                <a:ea typeface="Inter Bold"/>
                <a:cs typeface="Inter Bold"/>
                <a:sym typeface="Inter Bold"/>
              </a:rPr>
              <a:t>Kelompok 1</a:t>
            </a:r>
          </a:p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6B7280"/>
                </a:solidFill>
                <a:latin typeface="Inter Bold"/>
                <a:ea typeface="Inter Bold"/>
                <a:cs typeface="Inter Bold"/>
                <a:sym typeface="Inter Bold"/>
              </a:rPr>
              <a:t>Agil Naufal Al Habib Gurning</a:t>
            </a:r>
          </a:p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6B7280"/>
                </a:solidFill>
                <a:latin typeface="Inter Bold"/>
                <a:ea typeface="Inter Bold"/>
                <a:cs typeface="Inter Bold"/>
                <a:sym typeface="Inter Bold"/>
              </a:rPr>
              <a:t>Collin Febrian</a:t>
            </a:r>
          </a:p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6B7280"/>
                </a:solidFill>
                <a:latin typeface="Inter Bold"/>
                <a:ea typeface="Inter Bold"/>
                <a:cs typeface="Inter Bold"/>
                <a:sym typeface="Inter Bold"/>
              </a:rPr>
              <a:t>Lesnar Tambun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6B7280"/>
                </a:solidFill>
                <a:latin typeface="Inter Bold"/>
                <a:ea typeface="Inter Bold"/>
                <a:cs typeface="Inter Bold"/>
                <a:sym typeface="Inter Bold"/>
              </a:rPr>
              <a:t>Azhar Prabu Bagaskara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38225" y="5348527"/>
            <a:ext cx="8950467" cy="3916676"/>
            <a:chOff x="0" y="0"/>
            <a:chExt cx="2357325" cy="103155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57325" cy="1031552"/>
            </a:xfrm>
            <a:custGeom>
              <a:avLst/>
              <a:gdLst/>
              <a:ahLst/>
              <a:cxnLst/>
              <a:rect l="l" t="t" r="r" b="b"/>
              <a:pathLst>
                <a:path w="2357325" h="1031552">
                  <a:moveTo>
                    <a:pt x="31139" y="0"/>
                  </a:moveTo>
                  <a:lnTo>
                    <a:pt x="2326186" y="0"/>
                  </a:lnTo>
                  <a:cubicBezTo>
                    <a:pt x="2334444" y="0"/>
                    <a:pt x="2342365" y="3281"/>
                    <a:pt x="2348204" y="9120"/>
                  </a:cubicBezTo>
                  <a:cubicBezTo>
                    <a:pt x="2354044" y="14960"/>
                    <a:pt x="2357325" y="22880"/>
                    <a:pt x="2357325" y="31139"/>
                  </a:cubicBezTo>
                  <a:lnTo>
                    <a:pt x="2357325" y="1000413"/>
                  </a:lnTo>
                  <a:cubicBezTo>
                    <a:pt x="2357325" y="1008672"/>
                    <a:pt x="2354044" y="1016592"/>
                    <a:pt x="2348204" y="1022432"/>
                  </a:cubicBezTo>
                  <a:cubicBezTo>
                    <a:pt x="2342365" y="1028272"/>
                    <a:pt x="2334444" y="1031552"/>
                    <a:pt x="2326186" y="1031552"/>
                  </a:cubicBezTo>
                  <a:lnTo>
                    <a:pt x="31139" y="1031552"/>
                  </a:lnTo>
                  <a:cubicBezTo>
                    <a:pt x="22880" y="1031552"/>
                    <a:pt x="14960" y="1028272"/>
                    <a:pt x="9120" y="1022432"/>
                  </a:cubicBezTo>
                  <a:cubicBezTo>
                    <a:pt x="3281" y="1016592"/>
                    <a:pt x="0" y="1008672"/>
                    <a:pt x="0" y="1000413"/>
                  </a:cubicBezTo>
                  <a:lnTo>
                    <a:pt x="0" y="31139"/>
                  </a:lnTo>
                  <a:cubicBezTo>
                    <a:pt x="0" y="22880"/>
                    <a:pt x="3281" y="14960"/>
                    <a:pt x="9120" y="9120"/>
                  </a:cubicBezTo>
                  <a:cubicBezTo>
                    <a:pt x="14960" y="3281"/>
                    <a:pt x="22880" y="0"/>
                    <a:pt x="31139" y="0"/>
                  </a:cubicBezTo>
                  <a:close/>
                </a:path>
              </a:pathLst>
            </a:custGeom>
            <a:solidFill>
              <a:srgbClr val="D1FAE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357325" cy="10696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559678" y="1199158"/>
            <a:ext cx="699622" cy="1176735"/>
          </a:xfrm>
          <a:custGeom>
            <a:avLst/>
            <a:gdLst/>
            <a:ahLst/>
            <a:cxnLst/>
            <a:rect l="l" t="t" r="r" b="b"/>
            <a:pathLst>
              <a:path w="699622" h="1176735">
                <a:moveTo>
                  <a:pt x="0" y="0"/>
                </a:moveTo>
                <a:lnTo>
                  <a:pt x="699622" y="0"/>
                </a:lnTo>
                <a:lnTo>
                  <a:pt x="699622" y="1176735"/>
                </a:lnTo>
                <a:lnTo>
                  <a:pt x="0" y="11767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476290" y="3735321"/>
            <a:ext cx="7142764" cy="5529882"/>
          </a:xfrm>
          <a:custGeom>
            <a:avLst/>
            <a:gdLst/>
            <a:ahLst/>
            <a:cxnLst/>
            <a:rect l="l" t="t" r="r" b="b"/>
            <a:pathLst>
              <a:path w="7142764" h="5529882">
                <a:moveTo>
                  <a:pt x="0" y="0"/>
                </a:moveTo>
                <a:lnTo>
                  <a:pt x="7142765" y="0"/>
                </a:lnTo>
                <a:lnTo>
                  <a:pt x="7142765" y="5529882"/>
                </a:lnTo>
                <a:lnTo>
                  <a:pt x="0" y="55298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28700" y="847725"/>
            <a:ext cx="8312264" cy="1698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1">
                <a:solidFill>
                  <a:srgbClr val="1F1F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32079" y="2013010"/>
            <a:ext cx="7099375" cy="1698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1">
                <a:solidFill>
                  <a:srgbClr val="10B98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Overview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44563" y="5986065"/>
            <a:ext cx="7359449" cy="2603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Project ini berfokus pada analisis pola anomali keamanan jaringan dan deteksi intrusi menggunakan dataset simulasi </a:t>
            </a:r>
            <a:r>
              <a:rPr lang="en-US" sz="2499" i="1">
                <a:solidFill>
                  <a:srgbClr val="6B7280"/>
                </a:solidFill>
                <a:latin typeface="Inter Italics"/>
                <a:ea typeface="Inter Italics"/>
                <a:cs typeface="Inter Italics"/>
                <a:sym typeface="Inter Italics"/>
              </a:rPr>
              <a:t>Network Intrusion Detection </a:t>
            </a:r>
            <a:r>
              <a:rPr lang="en-US" sz="2499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dari Kaggle. Dataset ini memuat atribut penting seperti </a:t>
            </a:r>
            <a:r>
              <a:rPr lang="en-US" sz="2499" b="1">
                <a:solidFill>
                  <a:srgbClr val="6B7280"/>
                </a:solidFill>
                <a:latin typeface="Inter Bold"/>
                <a:ea typeface="Inter Bold"/>
                <a:cs typeface="Inter Bold"/>
                <a:sym typeface="Inter Bold"/>
              </a:rPr>
              <a:t>durasi koneksi, protokol, service, volume data </a:t>
            </a:r>
            <a:r>
              <a:rPr lang="en-US" sz="2499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dan </a:t>
            </a:r>
            <a:r>
              <a:rPr lang="en-US" sz="2499" b="1">
                <a:solidFill>
                  <a:srgbClr val="6B7280"/>
                </a:solidFill>
                <a:latin typeface="Inter Bold"/>
                <a:ea typeface="Inter Bold"/>
                <a:cs typeface="Inter Bold"/>
                <a:sym typeface="Inter Bold"/>
              </a:rPr>
              <a:t>error rate.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02170" y="5939125"/>
            <a:ext cx="16883659" cy="3319175"/>
            <a:chOff x="0" y="0"/>
            <a:chExt cx="4446725" cy="87418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46725" cy="874186"/>
            </a:xfrm>
            <a:custGeom>
              <a:avLst/>
              <a:gdLst/>
              <a:ahLst/>
              <a:cxnLst/>
              <a:rect l="l" t="t" r="r" b="b"/>
              <a:pathLst>
                <a:path w="4446725" h="874186">
                  <a:moveTo>
                    <a:pt x="16508" y="0"/>
                  </a:moveTo>
                  <a:lnTo>
                    <a:pt x="4430218" y="0"/>
                  </a:lnTo>
                  <a:cubicBezTo>
                    <a:pt x="4434596" y="0"/>
                    <a:pt x="4438794" y="1739"/>
                    <a:pt x="4441890" y="4835"/>
                  </a:cubicBezTo>
                  <a:cubicBezTo>
                    <a:pt x="4444986" y="7931"/>
                    <a:pt x="4446725" y="12130"/>
                    <a:pt x="4446725" y="16508"/>
                  </a:cubicBezTo>
                  <a:lnTo>
                    <a:pt x="4446725" y="857678"/>
                  </a:lnTo>
                  <a:cubicBezTo>
                    <a:pt x="4446725" y="862056"/>
                    <a:pt x="4444986" y="866255"/>
                    <a:pt x="4441890" y="869351"/>
                  </a:cubicBezTo>
                  <a:cubicBezTo>
                    <a:pt x="4438794" y="872447"/>
                    <a:pt x="4434596" y="874186"/>
                    <a:pt x="4430218" y="874186"/>
                  </a:cubicBezTo>
                  <a:lnTo>
                    <a:pt x="16508" y="874186"/>
                  </a:lnTo>
                  <a:cubicBezTo>
                    <a:pt x="12130" y="874186"/>
                    <a:pt x="7931" y="872447"/>
                    <a:pt x="4835" y="869351"/>
                  </a:cubicBezTo>
                  <a:cubicBezTo>
                    <a:pt x="1739" y="866255"/>
                    <a:pt x="0" y="862056"/>
                    <a:pt x="0" y="857678"/>
                  </a:cubicBezTo>
                  <a:lnTo>
                    <a:pt x="0" y="16508"/>
                  </a:lnTo>
                  <a:cubicBezTo>
                    <a:pt x="0" y="12130"/>
                    <a:pt x="1739" y="7931"/>
                    <a:pt x="4835" y="4835"/>
                  </a:cubicBezTo>
                  <a:cubicBezTo>
                    <a:pt x="7931" y="1739"/>
                    <a:pt x="12130" y="0"/>
                    <a:pt x="16508" y="0"/>
                  </a:cubicBezTo>
                  <a:close/>
                </a:path>
              </a:pathLst>
            </a:custGeom>
            <a:solidFill>
              <a:srgbClr val="D1FAE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446725" cy="9122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333244" y="4391549"/>
            <a:ext cx="1252598" cy="1261775"/>
          </a:xfrm>
          <a:custGeom>
            <a:avLst/>
            <a:gdLst/>
            <a:ahLst/>
            <a:cxnLst/>
            <a:rect l="l" t="t" r="r" b="b"/>
            <a:pathLst>
              <a:path w="1252598" h="1261775">
                <a:moveTo>
                  <a:pt x="0" y="0"/>
                </a:moveTo>
                <a:lnTo>
                  <a:pt x="1252599" y="0"/>
                </a:lnTo>
                <a:lnTo>
                  <a:pt x="1252599" y="1261775"/>
                </a:lnTo>
                <a:lnTo>
                  <a:pt x="0" y="12617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249978" y="4391549"/>
            <a:ext cx="1249592" cy="1242776"/>
          </a:xfrm>
          <a:custGeom>
            <a:avLst/>
            <a:gdLst/>
            <a:ahLst/>
            <a:cxnLst/>
            <a:rect l="l" t="t" r="r" b="b"/>
            <a:pathLst>
              <a:path w="1249592" h="1242776">
                <a:moveTo>
                  <a:pt x="0" y="0"/>
                </a:moveTo>
                <a:lnTo>
                  <a:pt x="1249592" y="0"/>
                </a:lnTo>
                <a:lnTo>
                  <a:pt x="1249592" y="1242776"/>
                </a:lnTo>
                <a:lnTo>
                  <a:pt x="0" y="12427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166570" y="4410549"/>
            <a:ext cx="1539474" cy="1242776"/>
          </a:xfrm>
          <a:custGeom>
            <a:avLst/>
            <a:gdLst/>
            <a:ahLst/>
            <a:cxnLst/>
            <a:rect l="l" t="t" r="r" b="b"/>
            <a:pathLst>
              <a:path w="1539474" h="1242776">
                <a:moveTo>
                  <a:pt x="0" y="0"/>
                </a:moveTo>
                <a:lnTo>
                  <a:pt x="1539474" y="0"/>
                </a:lnTo>
                <a:lnTo>
                  <a:pt x="1539474" y="1242775"/>
                </a:lnTo>
                <a:lnTo>
                  <a:pt x="0" y="12427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750250" y="4625415"/>
            <a:ext cx="1085511" cy="1036170"/>
          </a:xfrm>
          <a:custGeom>
            <a:avLst/>
            <a:gdLst/>
            <a:ahLst/>
            <a:cxnLst/>
            <a:rect l="l" t="t" r="r" b="b"/>
            <a:pathLst>
              <a:path w="1085511" h="1036170">
                <a:moveTo>
                  <a:pt x="0" y="0"/>
                </a:moveTo>
                <a:lnTo>
                  <a:pt x="1085511" y="0"/>
                </a:lnTo>
                <a:lnTo>
                  <a:pt x="1085511" y="1036170"/>
                </a:lnTo>
                <a:lnTo>
                  <a:pt x="0" y="10361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3233021" y="1028700"/>
            <a:ext cx="4026279" cy="1310371"/>
          </a:xfrm>
          <a:custGeom>
            <a:avLst/>
            <a:gdLst/>
            <a:ahLst/>
            <a:cxnLst/>
            <a:rect l="l" t="t" r="r" b="b"/>
            <a:pathLst>
              <a:path w="4026279" h="1310371">
                <a:moveTo>
                  <a:pt x="0" y="0"/>
                </a:moveTo>
                <a:lnTo>
                  <a:pt x="4026279" y="0"/>
                </a:lnTo>
                <a:lnTo>
                  <a:pt x="4026279" y="1310371"/>
                </a:lnTo>
                <a:lnTo>
                  <a:pt x="0" y="13103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28700" y="847725"/>
            <a:ext cx="8312264" cy="1698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1">
                <a:solidFill>
                  <a:srgbClr val="1F1F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Tujuan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6338364"/>
            <a:ext cx="3733319" cy="72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6B7280"/>
                </a:solidFill>
                <a:latin typeface="Inter Bold"/>
                <a:ea typeface="Inter Bold"/>
                <a:cs typeface="Inter Bold"/>
                <a:sym typeface="Inter Bold"/>
              </a:rPr>
              <a:t>Menganalisis Karakteristik Traffic Jaringan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433373" y="6338364"/>
            <a:ext cx="3064118" cy="72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6B7280"/>
                </a:solidFill>
                <a:latin typeface="Inter Bold"/>
                <a:ea typeface="Inter Bold"/>
                <a:cs typeface="Inter Bold"/>
                <a:sym typeface="Inter Bold"/>
              </a:rPr>
              <a:t>Mengidentifikasi Indikator Utama Intrusi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40964" y="6338364"/>
            <a:ext cx="3241326" cy="72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6B7280"/>
                </a:solidFill>
                <a:latin typeface="Inter Bold"/>
                <a:ea typeface="Inter Bold"/>
                <a:cs typeface="Inter Bold"/>
                <a:sym typeface="Inter Bold"/>
              </a:rPr>
              <a:t>Membangun Model Deteksi Intrusi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852511" y="6338364"/>
            <a:ext cx="2880989" cy="72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6B7280"/>
                </a:solidFill>
                <a:latin typeface="Inter Bold"/>
                <a:ea typeface="Inter Bold"/>
                <a:cs typeface="Inter Bold"/>
                <a:sym typeface="Inter Bold"/>
              </a:rPr>
              <a:t>Menyusun Dashboard Analitik Keamanan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62785" y="7450898"/>
            <a:ext cx="3465149" cy="118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Untuk memahami pola koneksi normal dan anomali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433373" y="7450898"/>
            <a:ext cx="3064118" cy="118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Berdasarkan protocol, service, flag dan volume traffic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635353" y="7431848"/>
            <a:ext cx="2652548" cy="1589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Yang mampu mengklasifikasikan traffic berisiko secara otomatis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966731" y="7450898"/>
            <a:ext cx="2652548" cy="1589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Agar hasil analisis mudah dipantau dan dipresentasikan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37525" y="5341624"/>
            <a:ext cx="8950467" cy="3916676"/>
            <a:chOff x="0" y="0"/>
            <a:chExt cx="2357325" cy="103155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57325" cy="1031552"/>
            </a:xfrm>
            <a:custGeom>
              <a:avLst/>
              <a:gdLst/>
              <a:ahLst/>
              <a:cxnLst/>
              <a:rect l="l" t="t" r="r" b="b"/>
              <a:pathLst>
                <a:path w="2357325" h="1031552">
                  <a:moveTo>
                    <a:pt x="31139" y="0"/>
                  </a:moveTo>
                  <a:lnTo>
                    <a:pt x="2326186" y="0"/>
                  </a:lnTo>
                  <a:cubicBezTo>
                    <a:pt x="2334444" y="0"/>
                    <a:pt x="2342365" y="3281"/>
                    <a:pt x="2348204" y="9120"/>
                  </a:cubicBezTo>
                  <a:cubicBezTo>
                    <a:pt x="2354044" y="14960"/>
                    <a:pt x="2357325" y="22880"/>
                    <a:pt x="2357325" y="31139"/>
                  </a:cubicBezTo>
                  <a:lnTo>
                    <a:pt x="2357325" y="1000413"/>
                  </a:lnTo>
                  <a:cubicBezTo>
                    <a:pt x="2357325" y="1008672"/>
                    <a:pt x="2354044" y="1016592"/>
                    <a:pt x="2348204" y="1022432"/>
                  </a:cubicBezTo>
                  <a:cubicBezTo>
                    <a:pt x="2342365" y="1028272"/>
                    <a:pt x="2334444" y="1031552"/>
                    <a:pt x="2326186" y="1031552"/>
                  </a:cubicBezTo>
                  <a:lnTo>
                    <a:pt x="31139" y="1031552"/>
                  </a:lnTo>
                  <a:cubicBezTo>
                    <a:pt x="22880" y="1031552"/>
                    <a:pt x="14960" y="1028272"/>
                    <a:pt x="9120" y="1022432"/>
                  </a:cubicBezTo>
                  <a:cubicBezTo>
                    <a:pt x="3281" y="1016592"/>
                    <a:pt x="0" y="1008672"/>
                    <a:pt x="0" y="1000413"/>
                  </a:cubicBezTo>
                  <a:lnTo>
                    <a:pt x="0" y="31139"/>
                  </a:lnTo>
                  <a:cubicBezTo>
                    <a:pt x="0" y="22880"/>
                    <a:pt x="3281" y="14960"/>
                    <a:pt x="9120" y="9120"/>
                  </a:cubicBezTo>
                  <a:cubicBezTo>
                    <a:pt x="14960" y="3281"/>
                    <a:pt x="22880" y="0"/>
                    <a:pt x="31139" y="0"/>
                  </a:cubicBezTo>
                  <a:close/>
                </a:path>
              </a:pathLst>
            </a:custGeom>
            <a:solidFill>
              <a:srgbClr val="D1FAE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357325" cy="10696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283723" y="4762839"/>
            <a:ext cx="6227968" cy="4495461"/>
          </a:xfrm>
          <a:custGeom>
            <a:avLst/>
            <a:gdLst/>
            <a:ahLst/>
            <a:cxnLst/>
            <a:rect l="l" t="t" r="r" b="b"/>
            <a:pathLst>
              <a:path w="6227968" h="4495461">
                <a:moveTo>
                  <a:pt x="0" y="0"/>
                </a:moveTo>
                <a:lnTo>
                  <a:pt x="6227968" y="0"/>
                </a:lnTo>
                <a:lnTo>
                  <a:pt x="6227968" y="4495461"/>
                </a:lnTo>
                <a:lnTo>
                  <a:pt x="0" y="44954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0"/>
            <a:ext cx="2546351" cy="2546351"/>
          </a:xfrm>
          <a:custGeom>
            <a:avLst/>
            <a:gdLst/>
            <a:ahLst/>
            <a:cxnLst/>
            <a:rect l="l" t="t" r="r" b="b"/>
            <a:pathLst>
              <a:path w="2546351" h="2546351">
                <a:moveTo>
                  <a:pt x="0" y="0"/>
                </a:moveTo>
                <a:lnTo>
                  <a:pt x="2546351" y="0"/>
                </a:lnTo>
                <a:lnTo>
                  <a:pt x="2546351" y="2546351"/>
                </a:lnTo>
                <a:lnTo>
                  <a:pt x="0" y="25463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8237525" y="847725"/>
            <a:ext cx="8312264" cy="1698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1">
                <a:solidFill>
                  <a:srgbClr val="1F1F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Dataset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619884" y="2013010"/>
            <a:ext cx="7929906" cy="1698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1">
                <a:solidFill>
                  <a:srgbClr val="10B98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Description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043863" y="5979162"/>
            <a:ext cx="7359449" cy="2603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Dataset: Network Intrusion Detection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Source: Kaggle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Total data: 47.738 records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Target: Normal vs Anomaly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Main features: duration, protocol_type, service, flag, bytes, error rate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490086"/>
            <a:ext cx="8950467" cy="5768214"/>
            <a:chOff x="0" y="0"/>
            <a:chExt cx="2357325" cy="1519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57325" cy="1519200"/>
            </a:xfrm>
            <a:custGeom>
              <a:avLst/>
              <a:gdLst/>
              <a:ahLst/>
              <a:cxnLst/>
              <a:rect l="l" t="t" r="r" b="b"/>
              <a:pathLst>
                <a:path w="2357325" h="1519200">
                  <a:moveTo>
                    <a:pt x="31139" y="0"/>
                  </a:moveTo>
                  <a:lnTo>
                    <a:pt x="2326186" y="0"/>
                  </a:lnTo>
                  <a:cubicBezTo>
                    <a:pt x="2334444" y="0"/>
                    <a:pt x="2342365" y="3281"/>
                    <a:pt x="2348204" y="9120"/>
                  </a:cubicBezTo>
                  <a:cubicBezTo>
                    <a:pt x="2354044" y="14960"/>
                    <a:pt x="2357325" y="22880"/>
                    <a:pt x="2357325" y="31139"/>
                  </a:cubicBezTo>
                  <a:lnTo>
                    <a:pt x="2357325" y="1488061"/>
                  </a:lnTo>
                  <a:cubicBezTo>
                    <a:pt x="2357325" y="1496320"/>
                    <a:pt x="2354044" y="1504240"/>
                    <a:pt x="2348204" y="1510080"/>
                  </a:cubicBezTo>
                  <a:cubicBezTo>
                    <a:pt x="2342365" y="1515920"/>
                    <a:pt x="2334444" y="1519200"/>
                    <a:pt x="2326186" y="1519200"/>
                  </a:cubicBezTo>
                  <a:lnTo>
                    <a:pt x="31139" y="1519200"/>
                  </a:lnTo>
                  <a:cubicBezTo>
                    <a:pt x="22880" y="1519200"/>
                    <a:pt x="14960" y="1515920"/>
                    <a:pt x="9120" y="1510080"/>
                  </a:cubicBezTo>
                  <a:cubicBezTo>
                    <a:pt x="3281" y="1504240"/>
                    <a:pt x="0" y="1496320"/>
                    <a:pt x="0" y="1488061"/>
                  </a:cubicBezTo>
                  <a:lnTo>
                    <a:pt x="0" y="31139"/>
                  </a:lnTo>
                  <a:cubicBezTo>
                    <a:pt x="0" y="22880"/>
                    <a:pt x="3281" y="14960"/>
                    <a:pt x="9120" y="9120"/>
                  </a:cubicBezTo>
                  <a:cubicBezTo>
                    <a:pt x="14960" y="3281"/>
                    <a:pt x="22880" y="0"/>
                    <a:pt x="31139" y="0"/>
                  </a:cubicBezTo>
                  <a:close/>
                </a:path>
              </a:pathLst>
            </a:custGeom>
            <a:solidFill>
              <a:srgbClr val="D1FAE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357325" cy="1557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1390025" y="4457467"/>
            <a:ext cx="4696087" cy="4800833"/>
          </a:xfrm>
          <a:custGeom>
            <a:avLst/>
            <a:gdLst/>
            <a:ahLst/>
            <a:cxnLst/>
            <a:rect l="l" t="t" r="r" b="b"/>
            <a:pathLst>
              <a:path w="4696087" h="4800833">
                <a:moveTo>
                  <a:pt x="0" y="0"/>
                </a:moveTo>
                <a:lnTo>
                  <a:pt x="4696087" y="0"/>
                </a:lnTo>
                <a:lnTo>
                  <a:pt x="4696087" y="4800833"/>
                </a:lnTo>
                <a:lnTo>
                  <a:pt x="0" y="48008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073601" y="1028700"/>
            <a:ext cx="3185699" cy="1702901"/>
          </a:xfrm>
          <a:custGeom>
            <a:avLst/>
            <a:gdLst/>
            <a:ahLst/>
            <a:cxnLst/>
            <a:rect l="l" t="t" r="r" b="b"/>
            <a:pathLst>
              <a:path w="3185699" h="1702901">
                <a:moveTo>
                  <a:pt x="0" y="0"/>
                </a:moveTo>
                <a:lnTo>
                  <a:pt x="3185699" y="0"/>
                </a:lnTo>
                <a:lnTo>
                  <a:pt x="3185699" y="1702901"/>
                </a:lnTo>
                <a:lnTo>
                  <a:pt x="0" y="17029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28700" y="205307"/>
            <a:ext cx="8312264" cy="1698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1">
                <a:solidFill>
                  <a:srgbClr val="1F1F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11059" y="1370593"/>
            <a:ext cx="8492523" cy="1698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1">
                <a:solidFill>
                  <a:srgbClr val="10B98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Preparation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11059" y="3733567"/>
            <a:ext cx="8236493" cy="5189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6B7280"/>
                </a:solidFill>
                <a:latin typeface="Inter Bold"/>
                <a:ea typeface="Inter Bold"/>
                <a:cs typeface="Inter Bold"/>
                <a:sym typeface="Inter Bold"/>
              </a:rPr>
              <a:t>Load Dataset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 Mengimpor data train dan test ke dalam lingkungan analisis.</a:t>
            </a: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6B7280"/>
                </a:solidFill>
                <a:latin typeface="Inter Bold"/>
                <a:ea typeface="Inter Bold"/>
                <a:cs typeface="Inter Bold"/>
                <a:sym typeface="Inter Bold"/>
              </a:rPr>
              <a:t>Data Cleaning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 Membersihkan label dan menghapus data yang tidak valid.</a:t>
            </a: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6B7280"/>
                </a:solidFill>
                <a:latin typeface="Inter Bold"/>
                <a:ea typeface="Inter Bold"/>
                <a:cs typeface="Inter Bold"/>
                <a:sym typeface="Inter Bold"/>
              </a:rPr>
              <a:t>Data Transformation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 Mengubah tipe data numerik dan menangani missing values.</a:t>
            </a: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6B7280"/>
                </a:solidFill>
                <a:latin typeface="Inter Bold"/>
                <a:ea typeface="Inter Bold"/>
                <a:cs typeface="Inter Bold"/>
                <a:sym typeface="Inter Bold"/>
              </a:rPr>
              <a:t>Feature Encoding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 Mengubah fitur kategorikal (protocol_type, service, flag) menjadi format numerik.</a:t>
            </a: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6B7280"/>
                </a:solidFill>
                <a:latin typeface="Inter Bold"/>
                <a:ea typeface="Inter Bold"/>
                <a:cs typeface="Inter Bold"/>
                <a:sym typeface="Inter Bold"/>
              </a:rPr>
              <a:t>Feature Scaling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 Melakukan standarisasi fitur menggunakan StandardScaler.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  <a:endParaRPr lang="en-US" sz="2300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668767" y="5341624"/>
            <a:ext cx="8950467" cy="3916676"/>
            <a:chOff x="0" y="0"/>
            <a:chExt cx="2357325" cy="103155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57325" cy="1031552"/>
            </a:xfrm>
            <a:custGeom>
              <a:avLst/>
              <a:gdLst/>
              <a:ahLst/>
              <a:cxnLst/>
              <a:rect l="l" t="t" r="r" b="b"/>
              <a:pathLst>
                <a:path w="2357325" h="1031552">
                  <a:moveTo>
                    <a:pt x="31139" y="0"/>
                  </a:moveTo>
                  <a:lnTo>
                    <a:pt x="2326186" y="0"/>
                  </a:lnTo>
                  <a:cubicBezTo>
                    <a:pt x="2334444" y="0"/>
                    <a:pt x="2342365" y="3281"/>
                    <a:pt x="2348204" y="9120"/>
                  </a:cubicBezTo>
                  <a:cubicBezTo>
                    <a:pt x="2354044" y="14960"/>
                    <a:pt x="2357325" y="22880"/>
                    <a:pt x="2357325" y="31139"/>
                  </a:cubicBezTo>
                  <a:lnTo>
                    <a:pt x="2357325" y="1000413"/>
                  </a:lnTo>
                  <a:cubicBezTo>
                    <a:pt x="2357325" y="1008672"/>
                    <a:pt x="2354044" y="1016592"/>
                    <a:pt x="2348204" y="1022432"/>
                  </a:cubicBezTo>
                  <a:cubicBezTo>
                    <a:pt x="2342365" y="1028272"/>
                    <a:pt x="2334444" y="1031552"/>
                    <a:pt x="2326186" y="1031552"/>
                  </a:cubicBezTo>
                  <a:lnTo>
                    <a:pt x="31139" y="1031552"/>
                  </a:lnTo>
                  <a:cubicBezTo>
                    <a:pt x="22880" y="1031552"/>
                    <a:pt x="14960" y="1028272"/>
                    <a:pt x="9120" y="1022432"/>
                  </a:cubicBezTo>
                  <a:cubicBezTo>
                    <a:pt x="3281" y="1016592"/>
                    <a:pt x="0" y="1008672"/>
                    <a:pt x="0" y="1000413"/>
                  </a:cubicBezTo>
                  <a:lnTo>
                    <a:pt x="0" y="31139"/>
                  </a:lnTo>
                  <a:cubicBezTo>
                    <a:pt x="0" y="22880"/>
                    <a:pt x="3281" y="14960"/>
                    <a:pt x="9120" y="9120"/>
                  </a:cubicBezTo>
                  <a:cubicBezTo>
                    <a:pt x="14960" y="3281"/>
                    <a:pt x="22880" y="0"/>
                    <a:pt x="31139" y="0"/>
                  </a:cubicBezTo>
                  <a:close/>
                </a:path>
              </a:pathLst>
            </a:custGeom>
            <a:solidFill>
              <a:srgbClr val="D1FAE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357325" cy="10696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022281" y="1787525"/>
            <a:ext cx="1919435" cy="1661184"/>
          </a:xfrm>
          <a:custGeom>
            <a:avLst/>
            <a:gdLst/>
            <a:ahLst/>
            <a:cxnLst/>
            <a:rect l="l" t="t" r="r" b="b"/>
            <a:pathLst>
              <a:path w="1919435" h="1661184">
                <a:moveTo>
                  <a:pt x="0" y="0"/>
                </a:moveTo>
                <a:lnTo>
                  <a:pt x="1919435" y="0"/>
                </a:lnTo>
                <a:lnTo>
                  <a:pt x="1919435" y="1661184"/>
                </a:lnTo>
                <a:lnTo>
                  <a:pt x="0" y="16611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566045" y="1576578"/>
            <a:ext cx="1693255" cy="969773"/>
          </a:xfrm>
          <a:custGeom>
            <a:avLst/>
            <a:gdLst/>
            <a:ahLst/>
            <a:cxnLst/>
            <a:rect l="l" t="t" r="r" b="b"/>
            <a:pathLst>
              <a:path w="1693255" h="969773">
                <a:moveTo>
                  <a:pt x="0" y="0"/>
                </a:moveTo>
                <a:lnTo>
                  <a:pt x="1693255" y="0"/>
                </a:lnTo>
                <a:lnTo>
                  <a:pt x="1693255" y="969773"/>
                </a:lnTo>
                <a:lnTo>
                  <a:pt x="0" y="9697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668767" y="2942657"/>
            <a:ext cx="3910208" cy="2295731"/>
          </a:xfrm>
          <a:custGeom>
            <a:avLst/>
            <a:gdLst/>
            <a:ahLst/>
            <a:cxnLst/>
            <a:rect l="l" t="t" r="r" b="b"/>
            <a:pathLst>
              <a:path w="3910208" h="2295731">
                <a:moveTo>
                  <a:pt x="0" y="0"/>
                </a:moveTo>
                <a:lnTo>
                  <a:pt x="3910208" y="0"/>
                </a:lnTo>
                <a:lnTo>
                  <a:pt x="3910208" y="2295731"/>
                </a:lnTo>
                <a:lnTo>
                  <a:pt x="0" y="22957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004660" y="2942657"/>
            <a:ext cx="4614573" cy="2295731"/>
          </a:xfrm>
          <a:custGeom>
            <a:avLst/>
            <a:gdLst/>
            <a:ahLst/>
            <a:cxnLst/>
            <a:rect l="l" t="t" r="r" b="b"/>
            <a:pathLst>
              <a:path w="4614573" h="2295731">
                <a:moveTo>
                  <a:pt x="0" y="0"/>
                </a:moveTo>
                <a:lnTo>
                  <a:pt x="4614573" y="0"/>
                </a:lnTo>
                <a:lnTo>
                  <a:pt x="4614573" y="2295731"/>
                </a:lnTo>
                <a:lnTo>
                  <a:pt x="0" y="22957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998696" y="2301"/>
            <a:ext cx="8312264" cy="1698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1">
                <a:solidFill>
                  <a:srgbClr val="1F1F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Exploration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729342" y="1140795"/>
            <a:ext cx="7581618" cy="1698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1">
                <a:solidFill>
                  <a:srgbClr val="10B98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Process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475104" y="5741037"/>
            <a:ext cx="7359449" cy="3041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Service dengan traffic tertinggi belum tentu service dengan risiko tertinggi. </a:t>
            </a:r>
            <a:r>
              <a:rPr lang="en-US" sz="2499">
                <a:solidFill>
                  <a:srgbClr val="E54D3E"/>
                </a:solidFill>
                <a:latin typeface="Inter"/>
                <a:ea typeface="Inter"/>
                <a:cs typeface="Inter"/>
                <a:sym typeface="Inter"/>
              </a:rPr>
              <a:t>http </a:t>
            </a:r>
            <a:r>
              <a:rPr lang="en-US" sz="2499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mendominasi total koneksi, tetapi </a:t>
            </a:r>
            <a:r>
              <a:rPr lang="en-US" sz="2499">
                <a:solidFill>
                  <a:srgbClr val="E54D3E"/>
                </a:solidFill>
                <a:latin typeface="Inter"/>
                <a:ea typeface="Inter"/>
                <a:cs typeface="Inter"/>
                <a:sym typeface="Inter"/>
              </a:rPr>
              <a:t>private </a:t>
            </a:r>
            <a:r>
              <a:rPr lang="en-US" sz="2499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justru memiliki jumlah anomaly paling tinggi. Hal ini menunjukkan bahwa monitoring tidak cukup hanya melihat volume traffic, tetapi juga perlu memperhatikan distribusi anomali pada setiap service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58533" y="3654278"/>
            <a:ext cx="3910208" cy="8248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Top 10 Service berdasarkan Record Count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818768" y="3444728"/>
            <a:ext cx="3910208" cy="1243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Top 10 Service berdasarkan Anomaly Terbanyak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458603" y="2670274"/>
            <a:ext cx="10119859" cy="6588026"/>
            <a:chOff x="0" y="0"/>
            <a:chExt cx="2665313" cy="17351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65313" cy="1735118"/>
            </a:xfrm>
            <a:custGeom>
              <a:avLst/>
              <a:gdLst/>
              <a:ahLst/>
              <a:cxnLst/>
              <a:rect l="l" t="t" r="r" b="b"/>
              <a:pathLst>
                <a:path w="2665313" h="1735118">
                  <a:moveTo>
                    <a:pt x="27541" y="0"/>
                  </a:moveTo>
                  <a:lnTo>
                    <a:pt x="2637772" y="0"/>
                  </a:lnTo>
                  <a:cubicBezTo>
                    <a:pt x="2652982" y="0"/>
                    <a:pt x="2665313" y="12330"/>
                    <a:pt x="2665313" y="27541"/>
                  </a:cubicBezTo>
                  <a:lnTo>
                    <a:pt x="2665313" y="1707577"/>
                  </a:lnTo>
                  <a:cubicBezTo>
                    <a:pt x="2665313" y="1714881"/>
                    <a:pt x="2662411" y="1721887"/>
                    <a:pt x="2657246" y="1727051"/>
                  </a:cubicBezTo>
                  <a:cubicBezTo>
                    <a:pt x="2652081" y="1732216"/>
                    <a:pt x="2645076" y="1735118"/>
                    <a:pt x="2637772" y="1735118"/>
                  </a:cubicBezTo>
                  <a:lnTo>
                    <a:pt x="27541" y="1735118"/>
                  </a:lnTo>
                  <a:cubicBezTo>
                    <a:pt x="20237" y="1735118"/>
                    <a:pt x="13231" y="1732216"/>
                    <a:pt x="8067" y="1727051"/>
                  </a:cubicBezTo>
                  <a:cubicBezTo>
                    <a:pt x="2902" y="1721887"/>
                    <a:pt x="0" y="1714881"/>
                    <a:pt x="0" y="1707577"/>
                  </a:cubicBezTo>
                  <a:lnTo>
                    <a:pt x="0" y="27541"/>
                  </a:lnTo>
                  <a:cubicBezTo>
                    <a:pt x="0" y="12330"/>
                    <a:pt x="12330" y="0"/>
                    <a:pt x="27541" y="0"/>
                  </a:cubicBezTo>
                  <a:close/>
                </a:path>
              </a:pathLst>
            </a:custGeom>
            <a:solidFill>
              <a:srgbClr val="D1FAE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665313" cy="17732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-403164"/>
            <a:ext cx="3722090" cy="3607043"/>
          </a:xfrm>
          <a:custGeom>
            <a:avLst/>
            <a:gdLst/>
            <a:ahLst/>
            <a:cxnLst/>
            <a:rect l="l" t="t" r="r" b="b"/>
            <a:pathLst>
              <a:path w="3722090" h="3607043">
                <a:moveTo>
                  <a:pt x="0" y="0"/>
                </a:moveTo>
                <a:lnTo>
                  <a:pt x="3722090" y="0"/>
                </a:lnTo>
                <a:lnTo>
                  <a:pt x="3722090" y="3607043"/>
                </a:lnTo>
                <a:lnTo>
                  <a:pt x="0" y="36070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39635" y="3869753"/>
            <a:ext cx="6644250" cy="4189068"/>
          </a:xfrm>
          <a:custGeom>
            <a:avLst/>
            <a:gdLst/>
            <a:ahLst/>
            <a:cxnLst/>
            <a:rect l="l" t="t" r="r" b="b"/>
            <a:pathLst>
              <a:path w="6644250" h="4189068">
                <a:moveTo>
                  <a:pt x="0" y="0"/>
                </a:moveTo>
                <a:lnTo>
                  <a:pt x="6644250" y="0"/>
                </a:lnTo>
                <a:lnTo>
                  <a:pt x="6644250" y="4189068"/>
                </a:lnTo>
                <a:lnTo>
                  <a:pt x="0" y="41890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7458075" y="152400"/>
            <a:ext cx="9239250" cy="2042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84"/>
              </a:lnSpc>
              <a:spcBef>
                <a:spcPct val="0"/>
              </a:spcBef>
            </a:pPr>
            <a:r>
              <a:rPr lang="en-US" sz="5845" b="1">
                <a:solidFill>
                  <a:srgbClr val="1F1F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Distribusi Tingkat Risiko Traffic Jaringan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705725" y="2867025"/>
            <a:ext cx="9563100" cy="610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6B7280"/>
                </a:solidFill>
                <a:latin typeface="Inter Bold"/>
                <a:ea typeface="Inter Bold"/>
                <a:cs typeface="Inter Bold"/>
                <a:sym typeface="Inter Bold"/>
              </a:rPr>
              <a:t>Temuan Utama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Sebagian besar traffic berada pada rentang Risk Score 0–20, dengan lebih dari 12.000 record terkonsentrasi pada kategori risiko rendah.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Jumlah traffic mulai menurun pada rentang 20–50, menunjukkan semakin sedikit koneksi yang memiliki tingkat risiko menengah.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Terdapat 2.388 record dengan Risk Score &gt; 50, yang mengindikasikan adanya aktivitas berisiko tinggi dan perlu menjadi prioritas monitoring.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Distribusi ini menunjukkan bahwa kondisi jaringan secara umum relatif aman, namun masih terdapat sejumlah traffic yang berpotensi mengandung ancaman keamanan.</a:t>
            </a:r>
          </a:p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endParaRPr lang="en-US" sz="2499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82612" y="4000500"/>
            <a:ext cx="15306595" cy="5334000"/>
            <a:chOff x="0" y="0"/>
            <a:chExt cx="4031367" cy="1404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31367" cy="1404840"/>
            </a:xfrm>
            <a:custGeom>
              <a:avLst/>
              <a:gdLst/>
              <a:ahLst/>
              <a:cxnLst/>
              <a:rect l="l" t="t" r="r" b="b"/>
              <a:pathLst>
                <a:path w="4031367" h="1404840">
                  <a:moveTo>
                    <a:pt x="18208" y="0"/>
                  </a:moveTo>
                  <a:lnTo>
                    <a:pt x="4013158" y="0"/>
                  </a:lnTo>
                  <a:cubicBezTo>
                    <a:pt x="4023215" y="0"/>
                    <a:pt x="4031367" y="8152"/>
                    <a:pt x="4031367" y="18208"/>
                  </a:cubicBezTo>
                  <a:lnTo>
                    <a:pt x="4031367" y="1386631"/>
                  </a:lnTo>
                  <a:cubicBezTo>
                    <a:pt x="4031367" y="1396687"/>
                    <a:pt x="4023215" y="1404840"/>
                    <a:pt x="4013158" y="1404840"/>
                  </a:cubicBezTo>
                  <a:lnTo>
                    <a:pt x="18208" y="1404840"/>
                  </a:lnTo>
                  <a:cubicBezTo>
                    <a:pt x="8152" y="1404840"/>
                    <a:pt x="0" y="1396687"/>
                    <a:pt x="0" y="1386631"/>
                  </a:cubicBezTo>
                  <a:lnTo>
                    <a:pt x="0" y="18208"/>
                  </a:lnTo>
                  <a:cubicBezTo>
                    <a:pt x="0" y="8152"/>
                    <a:pt x="8152" y="0"/>
                    <a:pt x="18208" y="0"/>
                  </a:cubicBezTo>
                  <a:close/>
                </a:path>
              </a:pathLst>
            </a:custGeom>
            <a:solidFill>
              <a:srgbClr val="D1FAE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031367" cy="14429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1834834" y="-1568449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885825"/>
            <a:ext cx="7810500" cy="1203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800"/>
              </a:lnSpc>
              <a:spcBef>
                <a:spcPct val="0"/>
              </a:spcBef>
            </a:pPr>
            <a:r>
              <a:rPr lang="en-US" sz="7000" b="1">
                <a:solidFill>
                  <a:srgbClr val="1F1F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Bagaimana Risk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71650" y="2028825"/>
            <a:ext cx="7143750" cy="1120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100"/>
              </a:lnSpc>
              <a:spcBef>
                <a:spcPct val="0"/>
              </a:spcBef>
            </a:pPr>
            <a:r>
              <a:rPr lang="en-US" sz="6500" b="1">
                <a:solidFill>
                  <a:srgbClr val="10B98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Score Dihitung?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283532" y="4543425"/>
            <a:ext cx="14005886" cy="4225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r>
              <a:rPr lang="en-US" sz="2000" b="1">
                <a:solidFill>
                  <a:srgbClr val="6B7280"/>
                </a:solidFill>
                <a:latin typeface="Inter Bold"/>
                <a:ea typeface="Inter Bold"/>
                <a:cs typeface="Inter Bold"/>
                <a:sym typeface="Inter Bold"/>
              </a:rPr>
              <a:t> —</a:t>
            </a:r>
            <a:r>
              <a:rPr lang="en-US" sz="2000" b="1" u="none" strike="noStrike">
                <a:solidFill>
                  <a:srgbClr val="6B7280"/>
                </a:solidFill>
                <a:latin typeface="Inter Bold"/>
                <a:ea typeface="Inter Bold"/>
                <a:cs typeface="Inter Bold"/>
                <a:sym typeface="Inter Bold"/>
              </a:rPr>
              <a:t> IsolationForest</a:t>
            </a:r>
            <a:r>
              <a:rPr lang="en-US" sz="2000" u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 belajar dari data Model menebang data secara acak berulang-ulang menggunakan 200 pohon. Data yang butuh sedikit tebangan untuk diisolasi = anomali. Data yang butuh banyak tebangan = normal karena punya banyak tetangga.</a:t>
            </a:r>
          </a:p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endParaRPr lang="en-US" sz="2000" u="none" strike="noStrike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 b="1" u="none" strike="noStrike">
                <a:solidFill>
                  <a:srgbClr val="6B7280"/>
                </a:solidFill>
                <a:latin typeface="Inter Bold"/>
                <a:ea typeface="Inter Bold"/>
                <a:cs typeface="Inter Bold"/>
                <a:sym typeface="Inter Bold"/>
              </a:rPr>
              <a:t>2 — decision_function() </a:t>
            </a:r>
            <a:r>
              <a:rPr lang="en-US" sz="2000" u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menghasilkan anomaly score mentah Nilai ini bisa negatif atau positif. Negatif = anomali, positif = normal. Satuannya tidak langsung bermakna bagi manusia.</a:t>
            </a:r>
          </a:p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endParaRPr lang="en-US" sz="2000" u="none" strike="noStrike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 b="1" u="none" strike="noStrike">
                <a:solidFill>
                  <a:srgbClr val="6B7280"/>
                </a:solidFill>
                <a:latin typeface="Inter Bold"/>
                <a:ea typeface="Inter Bold"/>
                <a:cs typeface="Inter Bold"/>
                <a:sym typeface="Inter Bold"/>
              </a:rPr>
              <a:t>3 — Normalisasi min-max terbalik ke 0–100</a:t>
            </a:r>
            <a:r>
              <a:rPr lang="en-US" sz="2000" u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 Karena nilai paling negatif = paling berbahaya, skalanya dibalik: nilai negatif ekstrem mendapat risk score mendekati 100, nilai positif mendapat risk score mendekati 0.</a:t>
            </a:r>
          </a:p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endParaRPr lang="en-US" sz="2000" u="none" strike="noStrike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 b="1" u="none" strike="noStrike">
                <a:solidFill>
                  <a:srgbClr val="6B7280"/>
                </a:solidFill>
                <a:latin typeface="Inter Bold"/>
                <a:ea typeface="Inter Bold"/>
                <a:cs typeface="Inter Bold"/>
                <a:sym typeface="Inter Bold"/>
              </a:rPr>
              <a:t>4 — Mapping ke Priority Level Risk score</a:t>
            </a:r>
            <a:r>
              <a:rPr lang="en-US" sz="2000" u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u="none" strike="noStrike">
                <a:solidFill>
                  <a:srgbClr val="0075B2"/>
                </a:solidFill>
                <a:latin typeface="Inter"/>
                <a:ea typeface="Inter"/>
                <a:cs typeface="Inter"/>
                <a:sym typeface="Inter"/>
              </a:rPr>
              <a:t>0–25 → P4-Low</a:t>
            </a:r>
            <a:r>
              <a:rPr lang="en-US" sz="2000" u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2000" u="none" strike="noStrike">
                <a:solidFill>
                  <a:srgbClr val="F7941D"/>
                </a:solidFill>
                <a:latin typeface="Inter"/>
                <a:ea typeface="Inter"/>
                <a:cs typeface="Inter"/>
                <a:sym typeface="Inter"/>
              </a:rPr>
              <a:t>25–50 → P3-Medium</a:t>
            </a:r>
            <a:r>
              <a:rPr lang="en-US" sz="2000" u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2000" u="none" strike="noStrike">
                <a:solidFill>
                  <a:srgbClr val="ED9696"/>
                </a:solidFill>
                <a:latin typeface="Inter"/>
                <a:ea typeface="Inter"/>
                <a:cs typeface="Inter"/>
                <a:sym typeface="Inter"/>
              </a:rPr>
              <a:t>50–75 → P2-High</a:t>
            </a:r>
            <a:r>
              <a:rPr lang="en-US" sz="2000" u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2000" u="none" strike="noStrike">
                <a:solidFill>
                  <a:srgbClr val="E54D3E"/>
                </a:solidFill>
                <a:latin typeface="Inter"/>
                <a:ea typeface="Inter"/>
                <a:cs typeface="Inter"/>
                <a:sym typeface="Inter"/>
              </a:rPr>
              <a:t>75–100 → P1-Critical.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912351"/>
            <a:ext cx="7882440" cy="5798856"/>
            <a:chOff x="0" y="0"/>
            <a:chExt cx="2076034" cy="152727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76034" cy="1527271"/>
            </a:xfrm>
            <a:custGeom>
              <a:avLst/>
              <a:gdLst/>
              <a:ahLst/>
              <a:cxnLst/>
              <a:rect l="l" t="t" r="r" b="b"/>
              <a:pathLst>
                <a:path w="2076034" h="1527271">
                  <a:moveTo>
                    <a:pt x="35358" y="0"/>
                  </a:moveTo>
                  <a:lnTo>
                    <a:pt x="2040675" y="0"/>
                  </a:lnTo>
                  <a:cubicBezTo>
                    <a:pt x="2060203" y="0"/>
                    <a:pt x="2076034" y="15830"/>
                    <a:pt x="2076034" y="35358"/>
                  </a:cubicBezTo>
                  <a:lnTo>
                    <a:pt x="2076034" y="1491913"/>
                  </a:lnTo>
                  <a:cubicBezTo>
                    <a:pt x="2076034" y="1511440"/>
                    <a:pt x="2060203" y="1527271"/>
                    <a:pt x="2040675" y="1527271"/>
                  </a:cubicBezTo>
                  <a:lnTo>
                    <a:pt x="35358" y="1527271"/>
                  </a:lnTo>
                  <a:cubicBezTo>
                    <a:pt x="15830" y="1527271"/>
                    <a:pt x="0" y="1511440"/>
                    <a:pt x="0" y="1491913"/>
                  </a:cubicBezTo>
                  <a:lnTo>
                    <a:pt x="0" y="35358"/>
                  </a:lnTo>
                  <a:cubicBezTo>
                    <a:pt x="0" y="15830"/>
                    <a:pt x="15830" y="0"/>
                    <a:pt x="35358" y="0"/>
                  </a:cubicBezTo>
                  <a:close/>
                </a:path>
              </a:pathLst>
            </a:custGeom>
            <a:solidFill>
              <a:srgbClr val="D1FAE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076034" cy="15653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068466" y="1028700"/>
            <a:ext cx="2190834" cy="1517651"/>
          </a:xfrm>
          <a:custGeom>
            <a:avLst/>
            <a:gdLst/>
            <a:ahLst/>
            <a:cxnLst/>
            <a:rect l="l" t="t" r="r" b="b"/>
            <a:pathLst>
              <a:path w="2190834" h="1517651">
                <a:moveTo>
                  <a:pt x="0" y="0"/>
                </a:moveTo>
                <a:lnTo>
                  <a:pt x="2190834" y="0"/>
                </a:lnTo>
                <a:lnTo>
                  <a:pt x="2190834" y="1517651"/>
                </a:lnTo>
                <a:lnTo>
                  <a:pt x="0" y="15176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958848" y="2457994"/>
            <a:ext cx="1604666" cy="1604666"/>
          </a:xfrm>
          <a:custGeom>
            <a:avLst/>
            <a:gdLst/>
            <a:ahLst/>
            <a:cxnLst/>
            <a:rect l="l" t="t" r="r" b="b"/>
            <a:pathLst>
              <a:path w="1604666" h="1604666">
                <a:moveTo>
                  <a:pt x="0" y="0"/>
                </a:moveTo>
                <a:lnTo>
                  <a:pt x="1604667" y="0"/>
                </a:lnTo>
                <a:lnTo>
                  <a:pt x="1604667" y="1604666"/>
                </a:lnTo>
                <a:lnTo>
                  <a:pt x="0" y="16046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280984" y="2978083"/>
            <a:ext cx="960394" cy="621637"/>
          </a:xfrm>
          <a:custGeom>
            <a:avLst/>
            <a:gdLst/>
            <a:ahLst/>
            <a:cxnLst/>
            <a:rect l="l" t="t" r="r" b="b"/>
            <a:pathLst>
              <a:path w="960394" h="621637">
                <a:moveTo>
                  <a:pt x="0" y="0"/>
                </a:moveTo>
                <a:lnTo>
                  <a:pt x="960395" y="0"/>
                </a:lnTo>
                <a:lnTo>
                  <a:pt x="960395" y="621638"/>
                </a:lnTo>
                <a:lnTo>
                  <a:pt x="0" y="6216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451853" y="4141589"/>
            <a:ext cx="8414604" cy="5026323"/>
          </a:xfrm>
          <a:custGeom>
            <a:avLst/>
            <a:gdLst/>
            <a:ahLst/>
            <a:cxnLst/>
            <a:rect l="l" t="t" r="r" b="b"/>
            <a:pathLst>
              <a:path w="8414604" h="5026323">
                <a:moveTo>
                  <a:pt x="0" y="0"/>
                </a:moveTo>
                <a:lnTo>
                  <a:pt x="8414603" y="0"/>
                </a:lnTo>
                <a:lnTo>
                  <a:pt x="8414603" y="5026324"/>
                </a:lnTo>
                <a:lnTo>
                  <a:pt x="0" y="50263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028700" y="866775"/>
            <a:ext cx="9410700" cy="14674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040"/>
              </a:lnSpc>
            </a:pPr>
            <a:r>
              <a:rPr lang="en-US" sz="8600" b="1" dirty="0">
                <a:solidFill>
                  <a:srgbClr val="1F1F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Faktor Utama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74257" y="2033522"/>
            <a:ext cx="7136884" cy="1226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7200" b="1" dirty="0" err="1">
                <a:solidFill>
                  <a:srgbClr val="10B98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Deteksi</a:t>
            </a:r>
            <a:r>
              <a:rPr lang="en-US" sz="7200" b="1" dirty="0">
                <a:solidFill>
                  <a:srgbClr val="10B98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7200" b="1" dirty="0" err="1">
                <a:solidFill>
                  <a:srgbClr val="10B98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Intrusi</a:t>
            </a:r>
            <a:endParaRPr lang="en-US" sz="7200" b="1" dirty="0">
              <a:solidFill>
                <a:srgbClr val="10B981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561324" y="4095806"/>
            <a:ext cx="6817193" cy="5189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6B7280"/>
                </a:solidFill>
                <a:latin typeface="Inter Bold"/>
                <a:ea typeface="Inter Bold"/>
                <a:cs typeface="Inter Bold"/>
                <a:sym typeface="Inter Bold"/>
              </a:rPr>
              <a:t>Insight Utama</a:t>
            </a:r>
          </a:p>
          <a:p>
            <a:pPr marL="496571" lvl="1" indent="-248285" algn="l">
              <a:lnSpc>
                <a:spcPts val="3220"/>
              </a:lnSpc>
              <a:spcBef>
                <a:spcPct val="0"/>
              </a:spcBef>
              <a:buFont typeface="Arial"/>
              <a:buChar char="•"/>
            </a:pPr>
            <a:r>
              <a:rPr lang="en-US" sz="23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src_bytes merupakan fitur paling berpengaruh dalam mendeteksi aktivitas intrusi.</a:t>
            </a:r>
          </a:p>
          <a:p>
            <a:pPr marL="496571" lvl="1" indent="-248285" algn="l">
              <a:lnSpc>
                <a:spcPts val="3220"/>
              </a:lnSpc>
              <a:spcBef>
                <a:spcPct val="0"/>
              </a:spcBef>
              <a:buFont typeface="Arial"/>
              <a:buChar char="•"/>
            </a:pPr>
            <a:r>
              <a:rPr lang="en-US" sz="23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Volume pertukaran data (src_bytes dan dst_bytes) menjadi indikator utama perilaku traffic yang tidak normal.</a:t>
            </a:r>
          </a:p>
          <a:p>
            <a:pPr marL="496571" lvl="1" indent="-248285" algn="l">
              <a:lnSpc>
                <a:spcPts val="3220"/>
              </a:lnSpc>
              <a:spcBef>
                <a:spcPct val="0"/>
              </a:spcBef>
              <a:buFont typeface="Arial"/>
              <a:buChar char="•"/>
            </a:pPr>
            <a:r>
              <a:rPr lang="en-US" sz="23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Informasi status koneksi (flag) juga berkontribusi signifikan dalam membedakan traffic normal dan anomali.</a:t>
            </a:r>
          </a:p>
          <a:p>
            <a:pPr marL="496571" lvl="1" indent="-248285" algn="l">
              <a:lnSpc>
                <a:spcPts val="3220"/>
              </a:lnSpc>
              <a:spcBef>
                <a:spcPct val="0"/>
              </a:spcBef>
              <a:buFont typeface="Arial"/>
              <a:buChar char="•"/>
            </a:pPr>
            <a:r>
              <a:rPr lang="en-US" sz="23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Hasil ini menunjukkan bahwa pola komunikasi dan volume data lebih penting dibandingkan identitas protokol semata.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  <a:endParaRPr lang="en-US" sz="2300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15740" y="4605092"/>
            <a:ext cx="8950467" cy="5381525"/>
            <a:chOff x="0" y="0"/>
            <a:chExt cx="2357325" cy="14173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57325" cy="1417357"/>
            </a:xfrm>
            <a:custGeom>
              <a:avLst/>
              <a:gdLst/>
              <a:ahLst/>
              <a:cxnLst/>
              <a:rect l="l" t="t" r="r" b="b"/>
              <a:pathLst>
                <a:path w="2357325" h="1417357">
                  <a:moveTo>
                    <a:pt x="31139" y="0"/>
                  </a:moveTo>
                  <a:lnTo>
                    <a:pt x="2326186" y="0"/>
                  </a:lnTo>
                  <a:cubicBezTo>
                    <a:pt x="2334444" y="0"/>
                    <a:pt x="2342365" y="3281"/>
                    <a:pt x="2348204" y="9120"/>
                  </a:cubicBezTo>
                  <a:cubicBezTo>
                    <a:pt x="2354044" y="14960"/>
                    <a:pt x="2357325" y="22880"/>
                    <a:pt x="2357325" y="31139"/>
                  </a:cubicBezTo>
                  <a:lnTo>
                    <a:pt x="2357325" y="1386217"/>
                  </a:lnTo>
                  <a:cubicBezTo>
                    <a:pt x="2357325" y="1394476"/>
                    <a:pt x="2354044" y="1402396"/>
                    <a:pt x="2348204" y="1408236"/>
                  </a:cubicBezTo>
                  <a:cubicBezTo>
                    <a:pt x="2342365" y="1414076"/>
                    <a:pt x="2334444" y="1417357"/>
                    <a:pt x="2326186" y="1417357"/>
                  </a:cubicBezTo>
                  <a:lnTo>
                    <a:pt x="31139" y="1417357"/>
                  </a:lnTo>
                  <a:cubicBezTo>
                    <a:pt x="22880" y="1417357"/>
                    <a:pt x="14960" y="1414076"/>
                    <a:pt x="9120" y="1408236"/>
                  </a:cubicBezTo>
                  <a:cubicBezTo>
                    <a:pt x="3281" y="1402396"/>
                    <a:pt x="0" y="1394476"/>
                    <a:pt x="0" y="1386217"/>
                  </a:cubicBezTo>
                  <a:lnTo>
                    <a:pt x="0" y="31139"/>
                  </a:lnTo>
                  <a:cubicBezTo>
                    <a:pt x="0" y="22880"/>
                    <a:pt x="3281" y="14960"/>
                    <a:pt x="9120" y="9120"/>
                  </a:cubicBezTo>
                  <a:cubicBezTo>
                    <a:pt x="14960" y="3281"/>
                    <a:pt x="22880" y="0"/>
                    <a:pt x="31139" y="0"/>
                  </a:cubicBezTo>
                  <a:close/>
                </a:path>
              </a:pathLst>
            </a:custGeom>
            <a:solidFill>
              <a:srgbClr val="D1FAE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357325" cy="14554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720254" y="3684845"/>
            <a:ext cx="2614487" cy="2614487"/>
          </a:xfrm>
          <a:custGeom>
            <a:avLst/>
            <a:gdLst/>
            <a:ahLst/>
            <a:cxnLst/>
            <a:rect l="l" t="t" r="r" b="b"/>
            <a:pathLst>
              <a:path w="2614487" h="2614487">
                <a:moveTo>
                  <a:pt x="0" y="0"/>
                </a:moveTo>
                <a:lnTo>
                  <a:pt x="2614486" y="0"/>
                </a:lnTo>
                <a:lnTo>
                  <a:pt x="2614486" y="2614486"/>
                </a:lnTo>
                <a:lnTo>
                  <a:pt x="0" y="26144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4078523" y="6643813"/>
            <a:ext cx="2614487" cy="2614487"/>
          </a:xfrm>
          <a:custGeom>
            <a:avLst/>
            <a:gdLst/>
            <a:ahLst/>
            <a:cxnLst/>
            <a:rect l="l" t="t" r="r" b="b"/>
            <a:pathLst>
              <a:path w="2614487" h="2614487">
                <a:moveTo>
                  <a:pt x="2614487" y="0"/>
                </a:moveTo>
                <a:lnTo>
                  <a:pt x="0" y="0"/>
                </a:lnTo>
                <a:lnTo>
                  <a:pt x="0" y="2614487"/>
                </a:lnTo>
                <a:lnTo>
                  <a:pt x="2614487" y="2614487"/>
                </a:lnTo>
                <a:lnTo>
                  <a:pt x="261448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518504" y="4471742"/>
            <a:ext cx="1017986" cy="1040692"/>
          </a:xfrm>
          <a:custGeom>
            <a:avLst/>
            <a:gdLst/>
            <a:ahLst/>
            <a:cxnLst/>
            <a:rect l="l" t="t" r="r" b="b"/>
            <a:pathLst>
              <a:path w="1017986" h="1040692">
                <a:moveTo>
                  <a:pt x="0" y="0"/>
                </a:moveTo>
                <a:lnTo>
                  <a:pt x="1017986" y="0"/>
                </a:lnTo>
                <a:lnTo>
                  <a:pt x="1017986" y="1040692"/>
                </a:lnTo>
                <a:lnTo>
                  <a:pt x="0" y="10406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776521" y="7435967"/>
            <a:ext cx="1218492" cy="1030180"/>
          </a:xfrm>
          <a:custGeom>
            <a:avLst/>
            <a:gdLst/>
            <a:ahLst/>
            <a:cxnLst/>
            <a:rect l="l" t="t" r="r" b="b"/>
            <a:pathLst>
              <a:path w="1218492" h="1030180">
                <a:moveTo>
                  <a:pt x="0" y="0"/>
                </a:moveTo>
                <a:lnTo>
                  <a:pt x="1218491" y="0"/>
                </a:lnTo>
                <a:lnTo>
                  <a:pt x="1218491" y="1030179"/>
                </a:lnTo>
                <a:lnTo>
                  <a:pt x="0" y="10301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120806" y="0"/>
            <a:ext cx="2167194" cy="2167194"/>
          </a:xfrm>
          <a:custGeom>
            <a:avLst/>
            <a:gdLst/>
            <a:ahLst/>
            <a:cxnLst/>
            <a:rect l="l" t="t" r="r" b="b"/>
            <a:pathLst>
              <a:path w="2167194" h="2167194">
                <a:moveTo>
                  <a:pt x="0" y="0"/>
                </a:moveTo>
                <a:lnTo>
                  <a:pt x="2167194" y="0"/>
                </a:lnTo>
                <a:lnTo>
                  <a:pt x="2167194" y="2167194"/>
                </a:lnTo>
                <a:lnTo>
                  <a:pt x="0" y="21671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flipH="1">
            <a:off x="21638" y="0"/>
            <a:ext cx="2167194" cy="2167194"/>
          </a:xfrm>
          <a:custGeom>
            <a:avLst/>
            <a:gdLst/>
            <a:ahLst/>
            <a:cxnLst/>
            <a:rect l="l" t="t" r="r" b="b"/>
            <a:pathLst>
              <a:path w="2167194" h="2167194">
                <a:moveTo>
                  <a:pt x="2167194" y="0"/>
                </a:moveTo>
                <a:lnTo>
                  <a:pt x="0" y="0"/>
                </a:lnTo>
                <a:lnTo>
                  <a:pt x="0" y="2167194"/>
                </a:lnTo>
                <a:lnTo>
                  <a:pt x="2167194" y="2167194"/>
                </a:lnTo>
                <a:lnTo>
                  <a:pt x="216719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126094" y="4854408"/>
            <a:ext cx="8189856" cy="4596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400" b="1" u="none" strike="noStrike">
                <a:solidFill>
                  <a:srgbClr val="6B7280"/>
                </a:solidFill>
                <a:latin typeface="Inter Bold"/>
                <a:ea typeface="Inter Bold"/>
                <a:cs typeface="Inter Bold"/>
                <a:sym typeface="Inter Bold"/>
              </a:rPr>
              <a:t>Insight Utama</a:t>
            </a:r>
          </a:p>
          <a:p>
            <a:pPr marL="518160" lvl="1" indent="-259080" algn="ctr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u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TCP mendominasi traffic pada semua level prioritas, terutama P4-Low (14.667 record).</a:t>
            </a:r>
          </a:p>
          <a:p>
            <a:pPr marL="518160" lvl="1" indent="-259080" algn="ctr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u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TCP juga memiliki jumlah P2-High (1.869) dan P1-Critical (209) paling besar dibanding protokol lain.</a:t>
            </a:r>
          </a:p>
          <a:p>
            <a:pPr marL="518160" lvl="1" indent="-259080" algn="ctr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u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UDP jumlahnya lebih kecil, tetapi masih memiliki traffic berisiko tinggi.</a:t>
            </a:r>
          </a:p>
          <a:p>
            <a:pPr marL="518160" lvl="1" indent="-259080" algn="ctr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u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ICMP paling sedikit pada level critical, namun tetap perlu dipantau karena muncul pada level medium dan high.</a:t>
            </a:r>
          </a:p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endParaRPr lang="en-US" sz="2400" u="none" strike="noStrike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3750594" y="2244724"/>
            <a:ext cx="10786811" cy="2167365"/>
          </a:xfrm>
          <a:custGeom>
            <a:avLst/>
            <a:gdLst/>
            <a:ahLst/>
            <a:cxnLst/>
            <a:rect l="l" t="t" r="r" b="b"/>
            <a:pathLst>
              <a:path w="10786811" h="2167365">
                <a:moveTo>
                  <a:pt x="0" y="0"/>
                </a:moveTo>
                <a:lnTo>
                  <a:pt x="10786812" y="0"/>
                </a:lnTo>
                <a:lnTo>
                  <a:pt x="10786812" y="2167365"/>
                </a:lnTo>
                <a:lnTo>
                  <a:pt x="0" y="21673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5000625" y="123825"/>
            <a:ext cx="9753600" cy="1368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200"/>
              </a:lnSpc>
              <a:spcBef>
                <a:spcPct val="0"/>
              </a:spcBef>
            </a:pPr>
            <a:r>
              <a:rPr lang="en-US" sz="8000" b="1">
                <a:solidFill>
                  <a:srgbClr val="1F1F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Prioritas Risiko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734050" y="1323975"/>
            <a:ext cx="7581900" cy="854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000"/>
              </a:lnSpc>
              <a:spcBef>
                <a:spcPct val="0"/>
              </a:spcBef>
            </a:pPr>
            <a:r>
              <a:rPr lang="en-US" sz="5000" b="1">
                <a:solidFill>
                  <a:srgbClr val="10B98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Berdasarkan Protokol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947402" y="1615519"/>
            <a:ext cx="5311898" cy="8364061"/>
            <a:chOff x="0" y="0"/>
            <a:chExt cx="1399019" cy="22028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99018" cy="2202880"/>
            </a:xfrm>
            <a:custGeom>
              <a:avLst/>
              <a:gdLst/>
              <a:ahLst/>
              <a:cxnLst/>
              <a:rect l="l" t="t" r="r" b="b"/>
              <a:pathLst>
                <a:path w="1399018" h="2202880">
                  <a:moveTo>
                    <a:pt x="52469" y="0"/>
                  </a:moveTo>
                  <a:lnTo>
                    <a:pt x="1346550" y="0"/>
                  </a:lnTo>
                  <a:cubicBezTo>
                    <a:pt x="1360465" y="0"/>
                    <a:pt x="1373811" y="5528"/>
                    <a:pt x="1383651" y="15368"/>
                  </a:cubicBezTo>
                  <a:cubicBezTo>
                    <a:pt x="1393491" y="25208"/>
                    <a:pt x="1399018" y="38553"/>
                    <a:pt x="1399018" y="52469"/>
                  </a:cubicBezTo>
                  <a:lnTo>
                    <a:pt x="1399018" y="2150412"/>
                  </a:lnTo>
                  <a:cubicBezTo>
                    <a:pt x="1399018" y="2164327"/>
                    <a:pt x="1393491" y="2177673"/>
                    <a:pt x="1383651" y="2187513"/>
                  </a:cubicBezTo>
                  <a:cubicBezTo>
                    <a:pt x="1373811" y="2197353"/>
                    <a:pt x="1360465" y="2202880"/>
                    <a:pt x="1346550" y="2202880"/>
                  </a:cubicBezTo>
                  <a:lnTo>
                    <a:pt x="52469" y="2202880"/>
                  </a:lnTo>
                  <a:cubicBezTo>
                    <a:pt x="38553" y="2202880"/>
                    <a:pt x="25208" y="2197353"/>
                    <a:pt x="15368" y="2187513"/>
                  </a:cubicBezTo>
                  <a:cubicBezTo>
                    <a:pt x="5528" y="2177673"/>
                    <a:pt x="0" y="2164327"/>
                    <a:pt x="0" y="2150412"/>
                  </a:cubicBezTo>
                  <a:lnTo>
                    <a:pt x="0" y="52469"/>
                  </a:lnTo>
                  <a:cubicBezTo>
                    <a:pt x="0" y="38553"/>
                    <a:pt x="5528" y="25208"/>
                    <a:pt x="15368" y="15368"/>
                  </a:cubicBezTo>
                  <a:cubicBezTo>
                    <a:pt x="25208" y="5528"/>
                    <a:pt x="38553" y="0"/>
                    <a:pt x="52469" y="0"/>
                  </a:cubicBezTo>
                  <a:close/>
                </a:path>
              </a:pathLst>
            </a:custGeom>
            <a:solidFill>
              <a:srgbClr val="D1FAE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399019" cy="2240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601890" y="2083890"/>
            <a:ext cx="1076739" cy="1047374"/>
          </a:xfrm>
          <a:custGeom>
            <a:avLst/>
            <a:gdLst/>
            <a:ahLst/>
            <a:cxnLst/>
            <a:rect l="l" t="t" r="r" b="b"/>
            <a:pathLst>
              <a:path w="1076739" h="1047374">
                <a:moveTo>
                  <a:pt x="0" y="0"/>
                </a:moveTo>
                <a:lnTo>
                  <a:pt x="1076739" y="0"/>
                </a:lnTo>
                <a:lnTo>
                  <a:pt x="1076739" y="1047373"/>
                </a:lnTo>
                <a:lnTo>
                  <a:pt x="0" y="10473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616097" y="4025090"/>
            <a:ext cx="1062532" cy="1072280"/>
          </a:xfrm>
          <a:custGeom>
            <a:avLst/>
            <a:gdLst/>
            <a:ahLst/>
            <a:cxnLst/>
            <a:rect l="l" t="t" r="r" b="b"/>
            <a:pathLst>
              <a:path w="1062532" h="1072280">
                <a:moveTo>
                  <a:pt x="0" y="0"/>
                </a:moveTo>
                <a:lnTo>
                  <a:pt x="1062532" y="0"/>
                </a:lnTo>
                <a:lnTo>
                  <a:pt x="1062532" y="1072280"/>
                </a:lnTo>
                <a:lnTo>
                  <a:pt x="0" y="10722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696911" y="5984066"/>
            <a:ext cx="886696" cy="886696"/>
          </a:xfrm>
          <a:custGeom>
            <a:avLst/>
            <a:gdLst/>
            <a:ahLst/>
            <a:cxnLst/>
            <a:rect l="l" t="t" r="r" b="b"/>
            <a:pathLst>
              <a:path w="886696" h="886696">
                <a:moveTo>
                  <a:pt x="0" y="0"/>
                </a:moveTo>
                <a:lnTo>
                  <a:pt x="886696" y="0"/>
                </a:lnTo>
                <a:lnTo>
                  <a:pt x="886696" y="886695"/>
                </a:lnTo>
                <a:lnTo>
                  <a:pt x="0" y="8866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696911" y="7755716"/>
            <a:ext cx="886696" cy="878635"/>
          </a:xfrm>
          <a:custGeom>
            <a:avLst/>
            <a:gdLst/>
            <a:ahLst/>
            <a:cxnLst/>
            <a:rect l="l" t="t" r="r" b="b"/>
            <a:pathLst>
              <a:path w="886696" h="878635">
                <a:moveTo>
                  <a:pt x="0" y="0"/>
                </a:moveTo>
                <a:lnTo>
                  <a:pt x="886696" y="0"/>
                </a:lnTo>
                <a:lnTo>
                  <a:pt x="886696" y="878635"/>
                </a:lnTo>
                <a:lnTo>
                  <a:pt x="0" y="8786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5657320" y="4865380"/>
            <a:ext cx="3776383" cy="3055437"/>
          </a:xfrm>
          <a:custGeom>
            <a:avLst/>
            <a:gdLst/>
            <a:ahLst/>
            <a:cxnLst/>
            <a:rect l="l" t="t" r="r" b="b"/>
            <a:pathLst>
              <a:path w="3776383" h="3055437">
                <a:moveTo>
                  <a:pt x="0" y="0"/>
                </a:moveTo>
                <a:lnTo>
                  <a:pt x="3776383" y="0"/>
                </a:lnTo>
                <a:lnTo>
                  <a:pt x="3776383" y="3055436"/>
                </a:lnTo>
                <a:lnTo>
                  <a:pt x="0" y="30554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28700" y="3934362"/>
            <a:ext cx="8919307" cy="4917389"/>
          </a:xfrm>
          <a:custGeom>
            <a:avLst/>
            <a:gdLst/>
            <a:ahLst/>
            <a:cxnLst/>
            <a:rect l="l" t="t" r="r" b="b"/>
            <a:pathLst>
              <a:path w="8919307" h="4917389">
                <a:moveTo>
                  <a:pt x="0" y="0"/>
                </a:moveTo>
                <a:lnTo>
                  <a:pt x="8919307" y="0"/>
                </a:lnTo>
                <a:lnTo>
                  <a:pt x="8919307" y="4917389"/>
                </a:lnTo>
                <a:lnTo>
                  <a:pt x="0" y="491738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028700" y="847725"/>
            <a:ext cx="8315325" cy="1698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999"/>
              </a:lnSpc>
              <a:spcBef>
                <a:spcPct val="0"/>
              </a:spcBef>
            </a:pPr>
            <a:r>
              <a:rPr lang="en-US" sz="9999" b="1">
                <a:solidFill>
                  <a:srgbClr val="1F1F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Distribusi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09700" y="2028825"/>
            <a:ext cx="8496300" cy="1443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800"/>
              </a:lnSpc>
              <a:spcBef>
                <a:spcPct val="0"/>
              </a:spcBef>
            </a:pPr>
            <a:r>
              <a:rPr lang="en-US" sz="8428" b="1">
                <a:solidFill>
                  <a:srgbClr val="10B98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Prioritas Risiko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372975" y="2028825"/>
            <a:ext cx="3733800" cy="41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6B7280"/>
                </a:solidFill>
                <a:latin typeface="Inter Bold"/>
                <a:ea typeface="Inter Bold"/>
                <a:cs typeface="Inter Bold"/>
                <a:sym typeface="Inter Bold"/>
              </a:rPr>
              <a:t>P-4 Low (65,5%)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372975" y="3636655"/>
            <a:ext cx="3733800" cy="41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6B7280"/>
                </a:solidFill>
                <a:latin typeface="Inter Bold"/>
                <a:ea typeface="Inter Bold"/>
                <a:cs typeface="Inter Bold"/>
                <a:sym typeface="Inter Bold"/>
              </a:rPr>
              <a:t>P-3 Medium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372975" y="5572125"/>
            <a:ext cx="3733800" cy="41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6B7280"/>
                </a:solidFill>
                <a:latin typeface="Inter Bold"/>
                <a:ea typeface="Inter Bold"/>
                <a:cs typeface="Inter Bold"/>
                <a:sym typeface="Inter Bold"/>
              </a:rPr>
              <a:t>P2-High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372975" y="7489825"/>
            <a:ext cx="3733800" cy="41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6B7280"/>
                </a:solidFill>
                <a:latin typeface="Inter Bold"/>
                <a:ea typeface="Inter Bold"/>
                <a:cs typeface="Inter Bold"/>
                <a:sym typeface="Inter Bold"/>
              </a:rPr>
              <a:t>P1-Critical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372975" y="2562225"/>
            <a:ext cx="4152900" cy="789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Mayoritas traffic berada pada kategori ini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372975" y="4091408"/>
            <a:ext cx="4152900" cy="118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nilainya mencapai 25%, sehingga masih ada trafik yang perlu diawasi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372975" y="6022975"/>
            <a:ext cx="4152900" cy="118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Menunjukkn nilai sebesar 8,6% mengindikasikan adanya trafik berisiko tinggi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372975" y="7949753"/>
            <a:ext cx="4641884" cy="1589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Pada bagian ini sangat kecil, tetapi tetap penting karena berpotensi menjadi ancaman serius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905007" y="1028700"/>
            <a:ext cx="3776383" cy="3055437"/>
          </a:xfrm>
          <a:custGeom>
            <a:avLst/>
            <a:gdLst/>
            <a:ahLst/>
            <a:cxnLst/>
            <a:rect l="l" t="t" r="r" b="b"/>
            <a:pathLst>
              <a:path w="3776383" h="3055437">
                <a:moveTo>
                  <a:pt x="0" y="0"/>
                </a:moveTo>
                <a:lnTo>
                  <a:pt x="3776383" y="0"/>
                </a:lnTo>
                <a:lnTo>
                  <a:pt x="3776383" y="3055437"/>
                </a:lnTo>
                <a:lnTo>
                  <a:pt x="0" y="30554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340964" y="2564997"/>
            <a:ext cx="6121330" cy="6693303"/>
          </a:xfrm>
          <a:custGeom>
            <a:avLst/>
            <a:gdLst/>
            <a:ahLst/>
            <a:cxnLst/>
            <a:rect l="l" t="t" r="r" b="b"/>
            <a:pathLst>
              <a:path w="6121330" h="6693303">
                <a:moveTo>
                  <a:pt x="0" y="0"/>
                </a:moveTo>
                <a:lnTo>
                  <a:pt x="6121331" y="0"/>
                </a:lnTo>
                <a:lnTo>
                  <a:pt x="6121331" y="6693303"/>
                </a:lnTo>
                <a:lnTo>
                  <a:pt x="0" y="66933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2805793"/>
            <a:ext cx="8312264" cy="2222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99"/>
              </a:lnSpc>
            </a:pPr>
            <a:r>
              <a:rPr lang="en-US" sz="12999" b="1">
                <a:solidFill>
                  <a:srgbClr val="1F1F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4383458"/>
            <a:ext cx="9389750" cy="2222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99"/>
              </a:lnSpc>
            </a:pPr>
            <a:r>
              <a:rPr lang="en-US" sz="12999" b="1">
                <a:solidFill>
                  <a:srgbClr val="10B98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You</a:t>
            </a:r>
          </a:p>
        </p:txBody>
      </p:sp>
      <p:sp>
        <p:nvSpPr>
          <p:cNvPr id="6" name="Freeform 6"/>
          <p:cNvSpPr/>
          <p:nvPr/>
        </p:nvSpPr>
        <p:spPr>
          <a:xfrm>
            <a:off x="1028700" y="8700407"/>
            <a:ext cx="609246" cy="515090"/>
          </a:xfrm>
          <a:custGeom>
            <a:avLst/>
            <a:gdLst/>
            <a:ahLst/>
            <a:cxnLst/>
            <a:rect l="l" t="t" r="r" b="b"/>
            <a:pathLst>
              <a:path w="609246" h="515090">
                <a:moveTo>
                  <a:pt x="0" y="0"/>
                </a:moveTo>
                <a:lnTo>
                  <a:pt x="609246" y="0"/>
                </a:lnTo>
                <a:lnTo>
                  <a:pt x="609246" y="515090"/>
                </a:lnTo>
                <a:lnTo>
                  <a:pt x="0" y="5150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522177" y="529816"/>
            <a:ext cx="2594196" cy="997768"/>
          </a:xfrm>
          <a:custGeom>
            <a:avLst/>
            <a:gdLst/>
            <a:ahLst/>
            <a:cxnLst/>
            <a:rect l="l" t="t" r="r" b="b"/>
            <a:pathLst>
              <a:path w="2594196" h="997768">
                <a:moveTo>
                  <a:pt x="0" y="0"/>
                </a:moveTo>
                <a:lnTo>
                  <a:pt x="2594196" y="0"/>
                </a:lnTo>
                <a:lnTo>
                  <a:pt x="2594196" y="997768"/>
                </a:lnTo>
                <a:lnTo>
                  <a:pt x="0" y="9977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819275" y="8743950"/>
            <a:ext cx="7521689" cy="41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6B7280"/>
                </a:solidFill>
                <a:latin typeface="Inter Bold"/>
                <a:ea typeface="Inter Bold"/>
                <a:cs typeface="Inter Bold"/>
                <a:sym typeface="Inter Bold"/>
              </a:rPr>
              <a:t>Vinix 7 - Kelompok 1 - Data Analyst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713</Words>
  <Application>Microsoft Office PowerPoint</Application>
  <PresentationFormat>Custom</PresentationFormat>
  <Paragraphs>87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Inter</vt:lpstr>
      <vt:lpstr>Inter Bold</vt:lpstr>
      <vt:lpstr>Arial</vt:lpstr>
      <vt:lpstr>Calibri</vt:lpstr>
      <vt:lpstr>Inter Italics</vt:lpstr>
      <vt:lpstr>Montserrat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Analisis Pola Anomali Keamanan Jaringan</dc:title>
  <cp:lastModifiedBy>Lesnar Tambun</cp:lastModifiedBy>
  <cp:revision>2</cp:revision>
  <dcterms:created xsi:type="dcterms:W3CDTF">2006-08-16T00:00:00Z</dcterms:created>
  <dcterms:modified xsi:type="dcterms:W3CDTF">2026-06-07T08:06:50Z</dcterms:modified>
  <dc:identifier>DAHLls6xFUQ</dc:identifier>
</cp:coreProperties>
</file>